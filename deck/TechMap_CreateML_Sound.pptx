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783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세션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24028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파형이 아니라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3081528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특징을 학습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Classification with Create ML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5760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 · 13:20 – 13:50 · 6층 마루랩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0" y="3200400"/>
            <a:ext cx="118872" cy="45720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8" name="Shape 6"/>
          <p:cNvSpPr/>
          <p:nvPr/>
        </p:nvSpPr>
        <p:spPr>
          <a:xfrm>
            <a:off x="8951976" y="2926080"/>
            <a:ext cx="118872" cy="1005840"/>
          </a:xfrm>
          <a:prstGeom prst="roundRect">
            <a:avLst>
              <a:gd name="adj" fmla="val 46154"/>
            </a:avLst>
          </a:prstGeom>
          <a:solidFill>
            <a:srgbClr val="EE4B2B"/>
          </a:solidFill>
          <a:ln/>
        </p:spPr>
      </p:sp>
      <p:sp>
        <p:nvSpPr>
          <p:cNvPr id="9" name="Shape 7"/>
          <p:cNvSpPr/>
          <p:nvPr/>
        </p:nvSpPr>
        <p:spPr>
          <a:xfrm>
            <a:off x="9217152" y="2560320"/>
            <a:ext cx="118872" cy="173736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0" name="Shape 8"/>
          <p:cNvSpPr/>
          <p:nvPr/>
        </p:nvSpPr>
        <p:spPr>
          <a:xfrm>
            <a:off x="9482328" y="2240280"/>
            <a:ext cx="118872" cy="237744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1" name="Shape 9"/>
          <p:cNvSpPr/>
          <p:nvPr/>
        </p:nvSpPr>
        <p:spPr>
          <a:xfrm>
            <a:off x="9747504" y="2651760"/>
            <a:ext cx="118872" cy="1554480"/>
          </a:xfrm>
          <a:prstGeom prst="roundRect">
            <a:avLst>
              <a:gd name="adj" fmla="val 46154"/>
            </a:avLst>
          </a:prstGeom>
          <a:solidFill>
            <a:srgbClr val="EE4B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12680" y="2103120"/>
            <a:ext cx="118872" cy="265176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77856" y="2468880"/>
            <a:ext cx="118872" cy="192024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43032" y="2880360"/>
            <a:ext cx="118872" cy="1097280"/>
          </a:xfrm>
          <a:prstGeom prst="roundRect">
            <a:avLst>
              <a:gd name="adj" fmla="val 46154"/>
            </a:avLst>
          </a:prstGeom>
          <a:solidFill>
            <a:srgbClr val="EE4B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08208" y="2606040"/>
            <a:ext cx="118872" cy="164592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73384" y="3017520"/>
            <a:ext cx="118872" cy="822960"/>
          </a:xfrm>
          <a:prstGeom prst="roundRect">
            <a:avLst>
              <a:gd name="adj" fmla="val 46154"/>
            </a:avLst>
          </a:prstGeom>
          <a:solidFill>
            <a:srgbClr val="3A3E4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38560" y="3200400"/>
            <a:ext cx="118872" cy="457200"/>
          </a:xfrm>
          <a:prstGeom prst="roundRect">
            <a:avLst>
              <a:gd name="adj" fmla="val 46154"/>
            </a:avLst>
          </a:prstGeom>
          <a:solidFill>
            <a:srgbClr val="EE4B2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600200"/>
            <a:ext cx="10637215" cy="1280160"/>
          </a:xfrm>
          <a:prstGeom prst="roundRect">
            <a:avLst>
              <a:gd name="adj" fmla="val 7143"/>
            </a:avLst>
          </a:prstGeom>
          <a:solidFill>
            <a:srgbClr val="F1F1F3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2020824"/>
            <a:ext cx="457200" cy="45720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2020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13:20 – 13:35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77640" y="18562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· 원리 15분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77640" y="2258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소리를 읽는 법 · 왜 특징인가 · 파라미터 네 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10637215" cy="1280160"/>
          </a:xfrm>
          <a:prstGeom prst="roundRect">
            <a:avLst>
              <a:gd name="adj" fmla="val 7143"/>
            </a:avLst>
          </a:prstGeom>
          <a:solidFill>
            <a:srgbClr val="F1F1F3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529584"/>
            <a:ext cx="457200" cy="45720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35295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13:35 – 13:47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77640" y="33649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· 핸즈온 12분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77640" y="3767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Mac에서 소리 데이터로 첫 모델 학습 → 마이크 검증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617720"/>
            <a:ext cx="10637215" cy="1280160"/>
          </a:xfrm>
          <a:prstGeom prst="roundRect">
            <a:avLst>
              <a:gd name="adj" fmla="val 7143"/>
            </a:avLst>
          </a:prstGeom>
          <a:solidFill>
            <a:srgbClr val="F1F1F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5038344"/>
            <a:ext cx="457200" cy="45720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5038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13:47 – 13:50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4873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· 팀 미션 3분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977640" y="52760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주 시연 과제 발제 · 가이드 웹 튜토리얼 공유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</a:t>
            </a:r>
            <a:endParaRPr lang="en-US" sz="10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ALREADY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매일 쓰고 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467280" cy="338328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203704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 씻기 감지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9848" y="2770632"/>
            <a:ext cx="188206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Watch가 물소리와 비누 문지르는 소리를 듣고 20초를 셉니다.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00552" y="1874520"/>
            <a:ext cx="2467280" cy="338328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9" name="Text 7"/>
          <p:cNvSpPr/>
          <p:nvPr/>
        </p:nvSpPr>
        <p:spPr>
          <a:xfrm>
            <a:off x="3793160" y="2203704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사운드 인식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93160" y="2770632"/>
            <a:ext cx="188206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초인종·사이렌·아기 울음을 감지해 알림. iOS 손쉬운 사용 기능.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23864" y="1874520"/>
            <a:ext cx="2467280" cy="338328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6516472" y="2203704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인식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16472" y="2770632"/>
            <a:ext cx="188206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AirPods가 내 말소리를 감지하면 볼륨을 낮춥니다.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47175" y="1874520"/>
            <a:ext cx="2467280" cy="338328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5" name="Text 13"/>
          <p:cNvSpPr/>
          <p:nvPr/>
        </p:nvSpPr>
        <p:spPr>
          <a:xfrm>
            <a:off x="9239783" y="2203704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Shazam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239783" y="2770632"/>
            <a:ext cx="188206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초 듣고 곡을 찾는다. 소리를 특징으로 바꿔 대조하는 방식입니다.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공통점</a:t>
            </a:r>
            <a:endParaRPr lang="en-US" sz="10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8882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마이크가 소리를 듣고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294894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ML이 의미를 읽고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390906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기기 안에서 추론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85800" y="22402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697480" y="2651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소리를 읽는 법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15분 · 원리 · 퀴즈 두 번 있습니다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983480"/>
            <a:ext cx="109728" cy="2743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754880"/>
            <a:ext cx="109728" cy="7315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4480560"/>
            <a:ext cx="109728" cy="128016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4297680"/>
            <a:ext cx="109728" cy="16459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4572000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4846320"/>
            <a:ext cx="109728" cy="5486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4434840"/>
            <a:ext cx="109728" cy="137160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4" name="Shape 12"/>
          <p:cNvSpPr/>
          <p:nvPr/>
        </p:nvSpPr>
        <p:spPr>
          <a:xfrm>
            <a:off x="29718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4937760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4617720"/>
            <a:ext cx="109728" cy="10058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94760" y="4800600"/>
            <a:ext cx="109728" cy="6400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아이폰이 학습 없이 알아듣는 소리, 몇 종류일까요?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12종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00552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0" name="Shape 8"/>
          <p:cNvSpPr/>
          <p:nvPr/>
        </p:nvSpPr>
        <p:spPr>
          <a:xfrm>
            <a:off x="3793160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1" name="Text 9"/>
          <p:cNvSpPr/>
          <p:nvPr/>
        </p:nvSpPr>
        <p:spPr>
          <a:xfrm>
            <a:off x="379316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3160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89종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23864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4" name="Shape 12"/>
          <p:cNvSpPr/>
          <p:nvPr/>
        </p:nvSpPr>
        <p:spPr>
          <a:xfrm>
            <a:off x="6516472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5" name="Text 13"/>
          <p:cNvSpPr/>
          <p:nvPr/>
        </p:nvSpPr>
        <p:spPr>
          <a:xfrm>
            <a:off x="6516472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6472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303종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947175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9783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9" name="Text 17"/>
          <p:cNvSpPr/>
          <p:nvPr/>
        </p:nvSpPr>
        <p:spPr>
          <a:xfrm>
            <a:off x="9239783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9783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1,024종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77240" y="43434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잠깐 생각해 보세요 — 정답은 다음 장에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아이폰이 학습 없이 알아듣는 소리, 몇 종류일까요?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2651760"/>
            <a:ext cx="420624" cy="420624"/>
          </a:xfrm>
          <a:prstGeom prst="ellipse">
            <a:avLst/>
          </a:prstGeom>
          <a:solidFill>
            <a:srgbClr val="C9CBCF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12종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00552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0" name="Shape 8"/>
          <p:cNvSpPr/>
          <p:nvPr/>
        </p:nvSpPr>
        <p:spPr>
          <a:xfrm>
            <a:off x="3793160" y="2651760"/>
            <a:ext cx="420624" cy="420624"/>
          </a:xfrm>
          <a:prstGeom prst="ellipse">
            <a:avLst/>
          </a:prstGeom>
          <a:solidFill>
            <a:srgbClr val="C9CBCF"/>
          </a:solidFill>
          <a:ln/>
        </p:spPr>
      </p:sp>
      <p:sp>
        <p:nvSpPr>
          <p:cNvPr id="11" name="Text 9"/>
          <p:cNvSpPr/>
          <p:nvPr/>
        </p:nvSpPr>
        <p:spPr>
          <a:xfrm>
            <a:off x="379316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3160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89종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23864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6472" y="2651760"/>
            <a:ext cx="420624" cy="420624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16472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6472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303종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947175" y="2377440"/>
            <a:ext cx="246728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9783" y="2651760"/>
            <a:ext cx="420624" cy="420624"/>
          </a:xfrm>
          <a:prstGeom prst="ellipse">
            <a:avLst/>
          </a:prstGeom>
          <a:solidFill>
            <a:srgbClr val="C9CBCF"/>
          </a:solidFill>
          <a:ln/>
        </p:spPr>
      </p:sp>
      <p:sp>
        <p:nvSpPr>
          <p:cNvPr id="19" name="Text 17"/>
          <p:cNvSpPr/>
          <p:nvPr/>
        </p:nvSpPr>
        <p:spPr>
          <a:xfrm>
            <a:off x="9239783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9783" y="3182112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1,024종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77240" y="42976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SNClassifySoundRequest(.version1) · 코드 한 줄, 학습 0분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박수 · 기침 · 개 짖는 소리 · 초인종 · 기타 · 청소기 · 물 따르는 소리 · 무음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뭘?</a:t>
            </a:r>
            <a:endParaRPr lang="en-US" sz="10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COMPUTER HEARS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컴퓨터의 귀: 숫자 794만 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190592" cy="3017520"/>
          </a:xfrm>
          <a:prstGeom prst="roundRect">
            <a:avLst>
              <a:gd name="adj" fmla="val 3030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240280"/>
            <a:ext cx="456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7,938,000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88136" y="3246120"/>
            <a:ext cx="456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3분짜리 노래 한 곡의 샘플 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8136" y="3849624"/>
            <a:ext cx="456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44,100 Hz × 180초. 잡음·울림·목소리가 전부 뒤섞인 숫자의 바다입니다.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COMPUTER HEARS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컴퓨터의 귀: 794만 개 → 15,600개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190592" cy="3017520"/>
          </a:xfrm>
          <a:prstGeom prst="roundRect">
            <a:avLst>
              <a:gd name="adj" fmla="val 3030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240280"/>
            <a:ext cx="456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7,938,000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88136" y="3246120"/>
            <a:ext cx="456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3분짜리 노래 한 곡의 샘플 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8136" y="3849624"/>
            <a:ext cx="456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44,100 Hz × 180초. 잡음·울림·목소리가 전부 뒤섞인 숫자의 바다입니다.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3864" y="1874520"/>
            <a:ext cx="5190592" cy="3017520"/>
          </a:xfrm>
          <a:prstGeom prst="roundRect">
            <a:avLst>
              <a:gd name="adj" fmla="val 3030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4760" y="2240280"/>
            <a:ext cx="456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15,600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534760" y="3246120"/>
            <a:ext cx="456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한 번에 보는 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4760" y="3849624"/>
            <a:ext cx="456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16,000 Hz × 0.975초. 이 한 덩어리가 특징 벡터 하나가 됩니다 — 사운드 분류가 배우는 전부입니다.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18464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학습시켜 확인한 값입니다. .mlmodel 입력은 audioSamples [15600], 메타데이터 sampleRate 16000.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아하</a:t>
            </a:r>
            <a:endParaRPr lang="en-US" sz="10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구조는 네 칸이면 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2371268" cy="2194560"/>
          </a:xfrm>
          <a:prstGeom prst="roundRect">
            <a:avLst>
              <a:gd name="adj" fmla="val 4167"/>
            </a:avLst>
          </a:prstGeom>
          <a:solidFill>
            <a:srgbClr val="F1F1F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181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154680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538728"/>
            <a:ext cx="1822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AVAudioEngine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66796" y="3154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C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32556" y="2240280"/>
            <a:ext cx="2371268" cy="2194560"/>
          </a:xfrm>
          <a:prstGeom prst="roundRect">
            <a:avLst>
              <a:gd name="adj" fmla="val 4167"/>
            </a:avLst>
          </a:prstGeom>
          <a:solidFill>
            <a:srgbClr val="F1F1F3"/>
          </a:solidFill>
          <a:ln/>
        </p:spPr>
      </p:sp>
      <p:sp>
        <p:nvSpPr>
          <p:cNvPr id="12" name="Shape 10"/>
          <p:cNvSpPr/>
          <p:nvPr/>
        </p:nvSpPr>
        <p:spPr>
          <a:xfrm>
            <a:off x="3806876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181D"/>
          </a:solidFill>
          <a:ln/>
        </p:spPr>
      </p:sp>
      <p:sp>
        <p:nvSpPr>
          <p:cNvPr id="13" name="Text 11"/>
          <p:cNvSpPr/>
          <p:nvPr/>
        </p:nvSpPr>
        <p:spPr>
          <a:xfrm>
            <a:off x="3806876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06876" y="3154680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윈도 자르기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06876" y="3538728"/>
            <a:ext cx="1822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0.975초씩 절단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(SoundAnalysis가 대신 해줌)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2112" y="3154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C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87872" y="2240280"/>
            <a:ext cx="2371268" cy="2194560"/>
          </a:xfrm>
          <a:prstGeom prst="roundRect">
            <a:avLst>
              <a:gd name="adj" fmla="val 4167"/>
            </a:avLst>
          </a:prstGeom>
          <a:solidFill>
            <a:srgbClr val="F1F1F3"/>
          </a:solidFill>
          <a:ln/>
        </p:spPr>
      </p:sp>
      <p:sp>
        <p:nvSpPr>
          <p:cNvPr id="18" name="Shape 16"/>
          <p:cNvSpPr/>
          <p:nvPr/>
        </p:nvSpPr>
        <p:spPr>
          <a:xfrm>
            <a:off x="6562192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181D"/>
          </a:solidFill>
          <a:ln/>
        </p:spPr>
      </p:sp>
      <p:sp>
        <p:nvSpPr>
          <p:cNvPr id="19" name="Text 17"/>
          <p:cNvSpPr/>
          <p:nvPr/>
        </p:nvSpPr>
        <p:spPr>
          <a:xfrm>
            <a:off x="6562192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62192" y="3154680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추출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62192" y="3538728"/>
            <a:ext cx="1822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Feature Print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(애플 사전학습, 학습 불필요)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77427" y="3154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C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43187" y="2240280"/>
            <a:ext cx="2371268" cy="2194560"/>
          </a:xfrm>
          <a:prstGeom prst="roundRect">
            <a:avLst>
              <a:gd name="adj" fmla="val 4167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17507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E4B2B"/>
          </a:solidFill>
          <a:ln/>
        </p:spPr>
      </p:sp>
      <p:sp>
        <p:nvSpPr>
          <p:cNvPr id="25" name="Text 23"/>
          <p:cNvSpPr/>
          <p:nvPr/>
        </p:nvSpPr>
        <p:spPr>
          <a:xfrm>
            <a:off x="9317507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17507" y="3154680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 분류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17507" y="3538728"/>
            <a:ext cx="1822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ML로 만든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.mlmodel (오늘의 주인공)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구조는 네 칸이면 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43187" y="2240280"/>
            <a:ext cx="2371268" cy="2194560"/>
          </a:xfrm>
          <a:prstGeom prst="roundRect">
            <a:avLst>
              <a:gd name="adj" fmla="val 4167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17507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E4B2B"/>
          </a:solidFill>
          <a:ln/>
        </p:spPr>
      </p:sp>
      <p:sp>
        <p:nvSpPr>
          <p:cNvPr id="7" name="Text 5"/>
          <p:cNvSpPr/>
          <p:nvPr/>
        </p:nvSpPr>
        <p:spPr>
          <a:xfrm>
            <a:off x="9317507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17507" y="3154680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 분류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17507" y="3538728"/>
            <a:ext cx="1822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ML로 만든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.mlmodel (오늘의 주인공)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9377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2, 3번 칸은 이미 있는 것! 오늘 새로 배우는 건 4번 칸 하나뿐입니다.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악보</a:t>
            </a:r>
            <a:endParaRPr lang="en-US" sz="10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악보의 원리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517904"/>
            <a:ext cx="9265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연주를 통째로 외우는 사람은 없습니다. 음과 길이만 남긴 악보를 보죠.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Feature Print가 소리에게 하는 일이 정확히 그것입니다.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15184"/>
            <a:ext cx="512064" cy="512064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15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560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잡음과 무관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3575304"/>
            <a:ext cx="512064" cy="512064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753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520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확 준다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77240" y="4535424"/>
            <a:ext cx="512064" cy="512064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35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44805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온디바이스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91840" y="1234440"/>
            <a:ext cx="55778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19272" y="3397453"/>
            <a:ext cx="5522976" cy="1238555"/>
          </a:xfrm>
          <a:prstGeom prst="rect">
            <a:avLst/>
          </a:prstGeom>
          <a:solidFill>
            <a:srgbClr val="FBD9CE"/>
          </a:solidFill>
          <a:ln/>
        </p:spPr>
      </p:sp>
      <p:sp>
        <p:nvSpPr>
          <p:cNvPr id="5" name="Shape 3"/>
          <p:cNvSpPr/>
          <p:nvPr/>
        </p:nvSpPr>
        <p:spPr>
          <a:xfrm>
            <a:off x="5696712" y="1965960"/>
            <a:ext cx="100584" cy="27432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6" name="Shape 4"/>
          <p:cNvSpPr/>
          <p:nvPr/>
        </p:nvSpPr>
        <p:spPr>
          <a:xfrm>
            <a:off x="5879592" y="1819656"/>
            <a:ext cx="100584" cy="566928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7" name="Shape 5"/>
          <p:cNvSpPr/>
          <p:nvPr/>
        </p:nvSpPr>
        <p:spPr>
          <a:xfrm>
            <a:off x="6062472" y="1668780"/>
            <a:ext cx="100584" cy="86868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8" name="Shape 6"/>
          <p:cNvSpPr/>
          <p:nvPr/>
        </p:nvSpPr>
        <p:spPr>
          <a:xfrm>
            <a:off x="6245352" y="1851660"/>
            <a:ext cx="100584" cy="50292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9" name="Shape 7"/>
          <p:cNvSpPr/>
          <p:nvPr/>
        </p:nvSpPr>
        <p:spPr>
          <a:xfrm>
            <a:off x="6428232" y="194767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5603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 같이 박수 한 번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3337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앞자리 화면의 SoundHook이 지금 듣고 있습니다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7490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clapping  86%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방금 그 소리는 0.975초짜리 조각 여러 개로 잘려 특징이 되었고, 분류기가 확률을 냈습니다. 오늘 배울 전부가 방금 1초 안에 일어났습니다.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고르기</a:t>
            </a:r>
            <a:endParaRPr lang="en-US" sz="10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학습할지 말지 — 갈림길은 이것 하나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0637215" cy="1051560"/>
          </a:xfrm>
          <a:prstGeom prst="roundRect">
            <a:avLst>
              <a:gd name="adj" fmla="val 8696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SoundAnalysis 내장 분류기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23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.version1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8745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불필요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874520"/>
            <a:ext cx="3687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일반적인 소리 303종 — 박수·기침·개 짖는 소리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127248"/>
            <a:ext cx="10637215" cy="1051560"/>
          </a:xfrm>
          <a:prstGeom prst="roundRect">
            <a:avLst>
              <a:gd name="adj" fmla="val 8696"/>
            </a:avLst>
          </a:prstGeom>
          <a:solidFill>
            <a:srgbClr val="F1F1F3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10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Classification 템플릿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3127248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60920" y="3127248"/>
            <a:ext cx="3687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도메인의 소리 — 기계 이상음·특정 알람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379976"/>
            <a:ext cx="10637215" cy="1051560"/>
          </a:xfrm>
          <a:prstGeom prst="roundRect">
            <a:avLst>
              <a:gd name="adj" fmla="val 8696"/>
            </a:avLst>
          </a:prstGeom>
          <a:solidFill>
            <a:srgbClr val="F1F1F3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5628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ML Components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4928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4379976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조립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60920" y="4379976"/>
            <a:ext cx="3687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추출기와 분류기를 바꿔 끼우고 싶을 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861304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오늘은 위 두 줄만 다룹니다. 내장으로 먼저 만들고, 부족하면 학습합니다.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얼마나</a:t>
            </a:r>
            <a:endParaRPr lang="en-US" sz="10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데이터는 생각보다 적게 필요함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88136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1분 녹음이 만드는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윈도 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8136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0.975초 윈도, 겹침 0.5 기준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0552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0" name="Text 8"/>
          <p:cNvSpPr/>
          <p:nvPr/>
        </p:nvSpPr>
        <p:spPr>
          <a:xfrm>
            <a:off x="3811448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811448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실험에 쓴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파일 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1448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2클래스 × 12개, 학습 몇 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3864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6534760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분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34760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클래스당 권장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녹음 길이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4760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클립 여러 개로 나눠 담습니다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47175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8" name="Text 16"/>
          <p:cNvSpPr/>
          <p:nvPr/>
        </p:nvSpPr>
        <p:spPr>
          <a:xfrm>
            <a:off x="9258071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58071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내장 분류기에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데이터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58071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303클래스, 학습 없이 즉시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74320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꼭 넣어야 할 한 가지: background 클래스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342900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'그 외 아무 소리'. 이게 없으면 모델은 침묵도 무언가로 우깁니다.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</a:t>
            </a:r>
            <a:endParaRPr lang="en-US" sz="10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DEFAULTS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기본값 네 개만 외우면 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0.975초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88136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featureExtraction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TimeWindowSize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8136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하나를 뽑는 시간 단위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0552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0" name="Text 8"/>
          <p:cNvSpPr/>
          <p:nvPr/>
        </p:nvSpPr>
        <p:spPr>
          <a:xfrm>
            <a:off x="3811448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811448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overlapFactor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1448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윈도를 절반씩 겹쳐 자릅니다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3864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6534760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34760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maxIterations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4760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분류기 학습 반복 횟수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47175" y="1874520"/>
            <a:ext cx="2467280" cy="2651760"/>
          </a:xfrm>
          <a:prstGeom prst="roundRect">
            <a:avLst>
              <a:gd name="adj" fmla="val 3706"/>
            </a:avLst>
          </a:prstGeom>
          <a:solidFill>
            <a:srgbClr val="F1F1F3"/>
          </a:solidFill>
          <a:ln/>
        </p:spPr>
      </p:sp>
      <p:sp>
        <p:nvSpPr>
          <p:cNvPr id="18" name="Text 16"/>
          <p:cNvSpPr/>
          <p:nvPr/>
        </p:nvSpPr>
        <p:spPr>
          <a:xfrm>
            <a:off x="9258071" y="2240280"/>
            <a:ext cx="184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3.0초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58071" y="3246120"/>
            <a:ext cx="184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windowDuration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(내장 분류기 추론)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58071" y="3849624"/>
            <a:ext cx="184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 범위 0.5 – 15.0초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81888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Xcode 26.0 SDK의 MLSoundClassifier.__Defaults 에서 직접 읽은 값.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결과가 나오는 간격은 곱셈 하나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10637215" cy="1371600"/>
          </a:xfrm>
          <a:prstGeom prst="roundRect">
            <a:avLst>
              <a:gd name="adj" fmla="val 6667"/>
            </a:avLst>
          </a:prstGeom>
          <a:solidFill>
            <a:srgbClr val="16181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06040"/>
            <a:ext cx="10637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hop  =  windowDuration  ×  ( 1 − overlapFactor 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3.0초 × (1 − 0.5) = 1.5초마다 결과 하나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소리냐, 이어지는 소리냐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190592" cy="3017520"/>
          </a:xfrm>
          <a:prstGeom prst="roundRect">
            <a:avLst>
              <a:gd name="adj" fmla="val 3030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203704"/>
            <a:ext cx="460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윈도를 줄인다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2532888"/>
            <a:ext cx="460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박수 · 노크 · 유리 깨짐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3099816"/>
            <a:ext cx="460537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– 1.0초. 짧은 소리는 긴 윈도 안에서 배경에 묻힙니다.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23864" y="1874520"/>
            <a:ext cx="5190592" cy="3017520"/>
          </a:xfrm>
          <a:prstGeom prst="roundRect">
            <a:avLst>
              <a:gd name="adj" fmla="val 3030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6472" y="2203704"/>
            <a:ext cx="460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윈도를 늘린다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16472" y="2532888"/>
            <a:ext cx="460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 · 기계음 · 환경음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16472" y="3099816"/>
            <a:ext cx="460537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– 5.0초. 이어지는 소리는 넓게 들어야 구분됩니다.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1663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겹침을 올리면 반응은 빨라지고 연산량은 그만큼 늘어납니다. 0.5가 기본이자 대부분의 정답입니다.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휘파람은 잘 잡히는데 손가락 튕기기를 자꾸 놓칩니다. 뭘 바꿀까요?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maxIterations를 올린다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8322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0" name="Shape 8"/>
          <p:cNvSpPr/>
          <p:nvPr/>
        </p:nvSpPr>
        <p:spPr>
          <a:xfrm>
            <a:off x="4700930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1" name="Text 9"/>
          <p:cNvSpPr/>
          <p:nvPr/>
        </p:nvSpPr>
        <p:spPr>
          <a:xfrm>
            <a:off x="470093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0930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windowDuration을 줄인다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39405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2013" y="2651760"/>
            <a:ext cx="420624" cy="420624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5" name="Text 13"/>
          <p:cNvSpPr/>
          <p:nvPr/>
        </p:nvSpPr>
        <p:spPr>
          <a:xfrm>
            <a:off x="8332013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2013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10배 모은다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잠깐 생각해 보세요 — 정답은 다음 장에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휘파람은 잘 잡히는데 손가락 튕기기를 자꾸 놓칩니다. 뭘 바꿀까요?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2651760"/>
            <a:ext cx="420624" cy="420624"/>
          </a:xfrm>
          <a:prstGeom prst="ellipse">
            <a:avLst/>
          </a:prstGeom>
          <a:solidFill>
            <a:srgbClr val="C9CBCF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maxIterations를 올린다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8322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930" y="2651760"/>
            <a:ext cx="420624" cy="420624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1" name="Text 9"/>
          <p:cNvSpPr/>
          <p:nvPr/>
        </p:nvSpPr>
        <p:spPr>
          <a:xfrm>
            <a:off x="470093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0930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windowDuration을 줄인다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39405" y="2377440"/>
            <a:ext cx="3375050" cy="1508760"/>
          </a:xfrm>
          <a:prstGeom prst="roundRect">
            <a:avLst>
              <a:gd name="adj" fmla="val 6061"/>
            </a:avLst>
          </a:prstGeom>
          <a:solidFill>
            <a:srgbClr val="F1F1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2013" y="2651760"/>
            <a:ext cx="420624" cy="420624"/>
          </a:xfrm>
          <a:prstGeom prst="ellipse">
            <a:avLst/>
          </a:prstGeom>
          <a:solidFill>
            <a:srgbClr val="C9CBCF"/>
          </a:solidFill>
          <a:ln/>
        </p:spPr>
      </p:sp>
      <p:sp>
        <p:nvSpPr>
          <p:cNvPr id="15" name="Text 13"/>
          <p:cNvSpPr/>
          <p:nvPr/>
        </p:nvSpPr>
        <p:spPr>
          <a:xfrm>
            <a:off x="8332013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2013" y="3182112"/>
            <a:ext cx="2789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A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10배 모은다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0.1초짜리 소리가 3초 윈도 안에서는 배경에 묻힙니다 — 데이터보다 먼저 윈도를 의심하세요.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85800" y="22402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697480" y="2651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만들기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12분 · 각자 Mac에서 · 12분 뒤 여러분의 마이크가 소리를 읽습니다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983480"/>
            <a:ext cx="109728" cy="2743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754880"/>
            <a:ext cx="109728" cy="7315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4480560"/>
            <a:ext cx="109728" cy="128016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4297680"/>
            <a:ext cx="109728" cy="16459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4572000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4846320"/>
            <a:ext cx="109728" cy="5486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4434840"/>
            <a:ext cx="109728" cy="137160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4" name="Shape 12"/>
          <p:cNvSpPr/>
          <p:nvPr/>
        </p:nvSpPr>
        <p:spPr>
          <a:xfrm>
            <a:off x="29718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4937760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4617720"/>
            <a:ext cx="109728" cy="10058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94760" y="4800600"/>
            <a:ext cx="109728" cy="6400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</a:t>
            </a:r>
            <a:endParaRPr lang="en-US" sz="10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566928" cy="566928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2860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 폴더를 Create ML에 드래그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566928" cy="566928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333756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Classification 템플릿 → Train (몇 분)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4389120"/>
            <a:ext cx="566928" cy="566928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43891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탭 + 마이크 — 무대 위에서 즉석 인식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6692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보실 것: 조용한 방에서 학습한 모델이 이 시끄러운 무대에서도 맞힙니다. '특징은 잡음을 모른다'의 실증.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HOW?</a:t>
            </a:r>
            <a:endParaRPr lang="en-US" sz="10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STEP 1–2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구조와 방법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3774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New Document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8136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ML → New Document →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Classification 템플릿 선택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88136" y="36118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Training Data에 폴더 드래그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136" y="3977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폴더 이름이 곧 정답 라벨이 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5242255" cy="2560320"/>
          </a:xfrm>
          <a:prstGeom prst="roundRect">
            <a:avLst>
              <a:gd name="adj" fmla="val 3571"/>
            </a:avLst>
          </a:prstGeom>
          <a:solidFill>
            <a:srgbClr val="16181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86000"/>
            <a:ext cx="46021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SoundData/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clap/         2분 12초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knock/        2분 40초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whistle/      1분 55초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background/   그 외 아무 소리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4800600"/>
            <a:ext cx="5242255" cy="777240"/>
          </a:xfrm>
          <a:prstGeom prst="roundRect">
            <a:avLst>
              <a:gd name="adj" fmla="val 11765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800600"/>
            <a:ext cx="4602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= 모델이 "모르겠다"라고 말할 수 있게 하는 정답지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훈련</a:t>
            </a:r>
            <a:endParaRPr lang="en-US" sz="10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STEP 3–4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4–12분: Train, 그리고 마이크로 검증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190592" cy="3383280"/>
          </a:xfrm>
          <a:prstGeom prst="roundRect">
            <a:avLst>
              <a:gd name="adj" fmla="val 2703"/>
            </a:avLst>
          </a:prstGeom>
          <a:solidFill>
            <a:srgbClr val="F1F1F3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203704"/>
            <a:ext cx="460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Train (약 5분)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2532888"/>
            <a:ext cx="460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기다리는 동안 일어나는 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3099816"/>
            <a:ext cx="460537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오디오 → 16kHz 변환 → 0.975초씩 절단 → 특징 벡터로 변환 → 그 벡터만 학습합니다.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(이 시간에 오늘 원리 요약 + 질문 받기)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23864" y="1874520"/>
            <a:ext cx="5190592" cy="3383280"/>
          </a:xfrm>
          <a:prstGeom prst="roundRect">
            <a:avLst>
              <a:gd name="adj" fmla="val 2703"/>
            </a:avLst>
          </a:prstGeom>
          <a:solidFill>
            <a:srgbClr val="FDEAE5"/>
          </a:solidFill>
          <a:ln w="15875">
            <a:solidFill>
              <a:srgbClr val="EE4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6472" y="2203704"/>
            <a:ext cx="460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Preview 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16472" y="2532888"/>
            <a:ext cx="460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앞에서 직접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16472" y="3099816"/>
            <a:ext cx="460537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박수·노크·휘파람을 직접 내봅니다.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확인할 것: 조용한 데이터로 학습했는데 왜 여기서도 되는가 — 오늘 원리를 귀로 확인하는 순간.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안 될 때 — 4가지면 대부분 해결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402336" cy="402336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0744" y="202082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Preview가 반응 없음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40680" y="1965960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마이크에 더 가까이. 입력 레벨이 너무 낮으면 전부 background.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127248"/>
            <a:ext cx="402336" cy="402336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80744" y="3090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라벨이 심하게 떨림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3035808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정상입니다 — 앱에서는 확신도 임계값 + 최근 결과 다수결로 잡습니다.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197096"/>
            <a:ext cx="402336" cy="402336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0744" y="4160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 소리나 내 클래스로 인식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0680" y="4105656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클래스가 없어서 — 모델에게 '그 외'라는 선택지를 준 적이 없기 때문.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5266944"/>
            <a:ext cx="402336" cy="402336"/>
          </a:xfrm>
          <a:prstGeom prst="ellipse">
            <a:avLst/>
          </a:prstGeom>
          <a:solidFill>
            <a:srgbClr val="16181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0744" y="52303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소리를 계속 놓침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40680" y="5175504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윈도가 대상보다 길다. windowDuration을 0.5–1.0초로 줄이세요.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앱으로</a:t>
            </a:r>
            <a:endParaRPr lang="en-US" sz="10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YOUR 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확신도 임계값 셋팅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6766560" cy="3108960"/>
          </a:xfrm>
          <a:prstGeom prst="roundRect">
            <a:avLst>
              <a:gd name="adj" fmla="val 2941"/>
            </a:avLst>
          </a:prstGeom>
          <a:solidFill>
            <a:srgbClr val="16181D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322576"/>
            <a:ext cx="6217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request = try SNClassifySoundRequest(mlModel: MySound().model)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request.windowDuration = CMTime(seconds: 1.5, preferredTimescale: 48_000)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request.overlapFactor = 0.5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확신 없으면 침묵 — 임계값 + 다수결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EC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classification.confidence &gt; 0.85 { smoother.add(classification.identifier) 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863840" y="2011680"/>
            <a:ext cx="3550615" cy="3108960"/>
          </a:xfrm>
          <a:prstGeom prst="roundRect">
            <a:avLst>
              <a:gd name="adj" fmla="val 2941"/>
            </a:avLst>
          </a:prstGeom>
          <a:solidFill>
            <a:srgbClr val="F1F1F3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2322576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품질의 비결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2788920"/>
            <a:ext cx="30019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확신도 0.85 미만은 무시하고, 최근 결과 다수결만 채택 —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두 줄이 없으면 라이브 화면에서 라벨이 심하게 떨립니다.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내장 분류기로 바꾸려면 첫 줄만 .version1 로.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SoundHook — 오늘 만든 것의 완성형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190592" cy="2103120"/>
          </a:xfrm>
          <a:prstGeom prst="roundRect">
            <a:avLst>
              <a:gd name="adj" fmla="val 4348"/>
            </a:avLst>
          </a:prstGeom>
          <a:solidFill>
            <a:srgbClr val="23262C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523744"/>
            <a:ext cx="460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챌린지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9848" y="2980944"/>
            <a:ext cx="460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제시된 소리를 청중이 직접 냅니다. 8라운드 × 12초, 신뢰도가 목표를 넘으면 성공.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23864" y="2194560"/>
            <a:ext cx="5190592" cy="2103120"/>
          </a:xfrm>
          <a:prstGeom prst="roundRect">
            <a:avLst>
              <a:gd name="adj" fmla="val 4348"/>
            </a:avLst>
          </a:prstGeom>
          <a:solidFill>
            <a:srgbClr val="23262C"/>
          </a:solidFill>
          <a:ln/>
        </p:spPr>
      </p:sp>
      <p:sp>
        <p:nvSpPr>
          <p:cNvPr id="9" name="Text 7"/>
          <p:cNvSpPr/>
          <p:nvPr/>
        </p:nvSpPr>
        <p:spPr>
          <a:xfrm>
            <a:off x="6516472" y="2523744"/>
            <a:ext cx="460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16472" y="2980944"/>
            <a:ext cx="460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windowDuration · overlapFactor · 임계값 슬라이더. 실패한 미션을 그 자리에서 재현합니다.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7548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휘파람이 안 잡히면 → 실험실에서 윈도를 줄이고 재도전. 파라미터를 몸으로 이해하게 만드는 장치입니다.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85800" y="22402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697480" y="2651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주 시연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 · 팀 미션 발제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983480"/>
            <a:ext cx="109728" cy="2743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754880"/>
            <a:ext cx="109728" cy="7315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4480560"/>
            <a:ext cx="109728" cy="128016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4297680"/>
            <a:ext cx="109728" cy="164592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4572000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4846320"/>
            <a:ext cx="109728" cy="5486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4434840"/>
            <a:ext cx="109728" cy="137160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4" name="Shape 12"/>
          <p:cNvSpPr/>
          <p:nvPr/>
        </p:nvSpPr>
        <p:spPr>
          <a:xfrm>
            <a:off x="2971800" y="47091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4937760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4617720"/>
            <a:ext cx="109728" cy="1005840"/>
          </a:xfrm>
          <a:prstGeom prst="roundRect">
            <a:avLst>
              <a:gd name="adj" fmla="val 41667"/>
            </a:avLst>
          </a:prstGeom>
          <a:solidFill>
            <a:srgbClr val="EE4B2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94760" y="4800600"/>
            <a:ext cx="109728" cy="640080"/>
          </a:xfrm>
          <a:prstGeom prst="roundRect">
            <a:avLst>
              <a:gd name="adj" fmla="val 41667"/>
            </a:avLst>
          </a:prstGeom>
          <a:solidFill>
            <a:srgbClr val="3A3E4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주까지: 소리로 반응하는 앱 하나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2467280" cy="2286000"/>
          </a:xfrm>
          <a:prstGeom prst="roundRect">
            <a:avLst>
              <a:gd name="adj" fmla="val 4000"/>
            </a:avLst>
          </a:prstGeom>
          <a:solidFill>
            <a:srgbClr val="23262C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523744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박수 게임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9848" y="2980944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모델 그대로 + 게임 로직만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69848" y="397764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최단 경로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0552" y="2194560"/>
            <a:ext cx="2467280" cy="2286000"/>
          </a:xfrm>
          <a:prstGeom prst="roundRect">
            <a:avLst>
              <a:gd name="adj" fmla="val 4000"/>
            </a:avLst>
          </a:prstGeom>
          <a:solidFill>
            <a:srgbClr val="23262C"/>
          </a:solidFill>
          <a:ln/>
        </p:spPr>
      </p:sp>
      <p:sp>
        <p:nvSpPr>
          <p:cNvPr id="10" name="Text 8"/>
          <p:cNvSpPr/>
          <p:nvPr/>
        </p:nvSpPr>
        <p:spPr>
          <a:xfrm>
            <a:off x="3793160" y="2523744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집 소리 알림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93160" y="2980944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초인종·주전자·세탁기 종료음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93160" y="397764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3864" y="2194560"/>
            <a:ext cx="2467280" cy="2286000"/>
          </a:xfrm>
          <a:prstGeom prst="roundRect">
            <a:avLst>
              <a:gd name="adj" fmla="val 4000"/>
            </a:avLst>
          </a:prstGeom>
          <a:solidFill>
            <a:srgbClr val="23262C"/>
          </a:solidFill>
          <a:ln/>
        </p:spPr>
      </p:sp>
      <p:sp>
        <p:nvSpPr>
          <p:cNvPr id="14" name="Text 12"/>
          <p:cNvSpPr/>
          <p:nvPr/>
        </p:nvSpPr>
        <p:spPr>
          <a:xfrm>
            <a:off x="6516472" y="2523744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악기 연습 카운터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6472" y="2980944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연습한 시간을 소리로 기록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6472" y="397764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47175" y="2194560"/>
            <a:ext cx="2467280" cy="2286000"/>
          </a:xfrm>
          <a:prstGeom prst="roundRect">
            <a:avLst>
              <a:gd name="adj" fmla="val 4000"/>
            </a:avLst>
          </a:prstGeom>
          <a:solidFill>
            <a:srgbClr val="23262C"/>
          </a:solidFill>
          <a:ln/>
        </p:spPr>
      </p:sp>
      <p:sp>
        <p:nvSpPr>
          <p:cNvPr id="18" name="Text 16"/>
          <p:cNvSpPr/>
          <p:nvPr/>
        </p:nvSpPr>
        <p:spPr>
          <a:xfrm>
            <a:off x="9239783" y="2523744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고양이 통역기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39783" y="2980944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울음 패턴 3종 분류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39783" y="397764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9377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Create ML로 15분 — 나머지는 여러분의 바이브 코딩. 다음 미팅 팀 공유 시간에 시연합니다.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재밌는거 하자!</a:t>
            </a:r>
            <a:endParaRPr lang="en-US" sz="7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1792"/>
            <a:ext cx="91440" cy="91440"/>
          </a:xfrm>
          <a:prstGeom prst="ellipse">
            <a:avLst/>
          </a:prstGeom>
          <a:solidFill>
            <a:srgbClr val="EE4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THREE THINGS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91640" y="1645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파형이 아니라 특징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0756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794만 → 15,600. 잡음과 무관하고, 데이터도 적게 듭니다.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91640" y="288036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기본값 네 개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33101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0.975초 · 0.5 · 25 · 3.0초. 이게 전부입니다.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691640" y="41148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온디바이스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54456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소리는 기기를 떠나지 않습니다 — 신뢰가 기본값입니다.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0" y="3108960"/>
            <a:ext cx="100584" cy="36576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15" name="Shape 13"/>
          <p:cNvSpPr/>
          <p:nvPr/>
        </p:nvSpPr>
        <p:spPr>
          <a:xfrm>
            <a:off x="9290304" y="2834640"/>
            <a:ext cx="100584" cy="91440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528048" y="2514600"/>
            <a:ext cx="100584" cy="155448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17" name="Shape 15"/>
          <p:cNvSpPr/>
          <p:nvPr/>
        </p:nvSpPr>
        <p:spPr>
          <a:xfrm>
            <a:off x="9765792" y="2240280"/>
            <a:ext cx="100584" cy="210312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03536" y="2606040"/>
            <a:ext cx="100584" cy="137160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0" y="2103120"/>
            <a:ext cx="100584" cy="237744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9024" y="2423160"/>
            <a:ext cx="100584" cy="173736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16768" y="2788920"/>
            <a:ext cx="100584" cy="1005840"/>
          </a:xfrm>
          <a:prstGeom prst="roundRect">
            <a:avLst>
              <a:gd name="adj" fmla="val 45455"/>
            </a:avLst>
          </a:prstGeom>
          <a:solidFill>
            <a:srgbClr val="EE4B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54512" y="2560320"/>
            <a:ext cx="100584" cy="146304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92256" y="2926080"/>
            <a:ext cx="100584" cy="731520"/>
          </a:xfrm>
          <a:prstGeom prst="roundRect">
            <a:avLst>
              <a:gd name="adj" fmla="val 45455"/>
            </a:avLst>
          </a:prstGeom>
          <a:solidFill>
            <a:srgbClr val="3A3E4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5778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 웹 튜토리얼 — 오늘 내용 전체 + 분석 윈도 시뮬레이터 + 데모 앱 소스 (링크 공유)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7240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4주차 · Sound Classification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65815" y="6355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ML 사운드 분류</dc:title>
  <dc:subject>PptxGenJS Presentation</dc:subject>
  <dc:creator>TechMap</dc:creator>
  <cp:lastModifiedBy>TechMap</cp:lastModifiedBy>
  <cp:revision>1</cp:revision>
  <dcterms:created xsi:type="dcterms:W3CDTF">2026-08-07T01:42:34Z</dcterms:created>
  <dcterms:modified xsi:type="dcterms:W3CDTF">2026-08-07T01:42:34Z</dcterms:modified>
</cp:coreProperties>
</file>